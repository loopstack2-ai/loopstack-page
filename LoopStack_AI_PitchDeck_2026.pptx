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TenurAI MRR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M6</c:v>
                  </c:pt>
                  <c:pt idx="1">
                    <c:v>M12</c:v>
                  </c:pt>
                  <c:pt idx="2">
                    <c:v>M18</c:v>
                  </c:pt>
                  <c:pt idx="3">
                    <c:v>M24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3950</c:v>
                </c:pt>
                <c:pt idx="1">
                  <c:v>11850</c:v>
                </c:pt>
                <c:pt idx="2">
                  <c:v>23700</c:v>
                </c:pt>
                <c:pt idx="3">
                  <c:v>39500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TalentForge MRR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M6</c:v>
                  </c:pt>
                  <c:pt idx="1">
                    <c:v>M12</c:v>
                  </c:pt>
                  <c:pt idx="2">
                    <c:v>M18</c:v>
                  </c:pt>
                  <c:pt idx="3">
                    <c:v>M24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1770</c:v>
                </c:pt>
                <c:pt idx="1">
                  <c:v>5900</c:v>
                </c:pt>
                <c:pt idx="2">
                  <c:v>11800</c:v>
                </c:pt>
                <c:pt idx="3">
                  <c:v>23600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Agency MRR</c:v>
                </c:pt>
              </c:strCache>
            </c:strRef>
          </c:tx>
          <c:spPr>
            <a:solidFill>
              <a:srgbClr val="6C63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M6</c:v>
                  </c:pt>
                  <c:pt idx="1">
                    <c:v>M12</c:v>
                  </c:pt>
                  <c:pt idx="2">
                    <c:v>M18</c:v>
                  </c:pt>
                  <c:pt idx="3">
                    <c:v>M24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2397</c:v>
                </c:pt>
                <c:pt idx="1">
                  <c:v>3196</c:v>
                </c:pt>
                <c:pt idx="2">
                  <c:v>3995</c:v>
                </c:pt>
                <c:pt idx="3">
                  <c:v>4794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BuildaQuote MRR</c:v>
                </c:pt>
              </c:strCache>
            </c:strRef>
          </c:tx>
          <c:spPr>
            <a:solidFill>
              <a:srgbClr val="F5C8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M6</c:v>
                  </c:pt>
                  <c:pt idx="1">
                    <c:v>M12</c:v>
                  </c:pt>
                  <c:pt idx="2">
                    <c:v>M18</c:v>
                  </c:pt>
                  <c:pt idx="3">
                    <c:v>M24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2500</c:v>
                </c:pt>
                <c:pt idx="3">
                  <c:v>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A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11112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C63FF"/>
              </a:solidFill>
              <a:effectLst/>
            </c:spPr>
          </c:dPt>
          <c:dPt>
            <c:idx val="1"/>
            <c:bubble3D val="0"/>
            <c:spPr>
              <a:solidFill>
                <a:srgbClr val="00D4AA"/>
              </a:solidFill>
              <a:effectLst/>
            </c:spPr>
          </c:dPt>
          <c:dPt>
            <c:idx val="2"/>
            <c:bubble3D val="0"/>
            <c:spPr>
              <a:solidFill>
                <a:srgbClr val="FF6B6B"/>
              </a:solidFill>
              <a:effectLst/>
            </c:spPr>
          </c:dPt>
          <c:dPt>
            <c:idx val="3"/>
            <c:bubble3D val="0"/>
            <c:spPr>
              <a:solidFill>
                <a:srgbClr val="F5C84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Marketing &amp; Acquisition</c:v>
                </c:pt>
                <c:pt idx="1">
                  <c:v>Product Development</c:v>
                </c:pt>
                <c:pt idx="2">
                  <c:v>Operations &amp; Infra</c:v>
                </c:pt>
                <c:pt idx="3">
                  <c:v>Contingency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4F4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1111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120640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pPr indent="0" marL="0">
              <a:buNone/>
            </a:pPr>
            <a:r>
              <a:rPr lang="en-US" sz="36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AI VENTURE STUDIO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200400" cy="22860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&amp;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Proposal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£100,000 – £150,000  ·  Pre-Seed  ·  Equity Open to Discussion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1280160" cy="777240"/>
          </a:xfrm>
          <a:prstGeom prst="rect">
            <a:avLst/>
          </a:prstGeom>
          <a:solidFill>
            <a:srgbClr val="1818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94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1788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65960" y="3749040"/>
            <a:ext cx="1280160" cy="777240"/>
          </a:xfrm>
          <a:prstGeom prst="rect">
            <a:avLst/>
          </a:prstGeom>
          <a:solidFill>
            <a:srgbClr val="1818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3794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65960" y="41788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0" y="3749040"/>
            <a:ext cx="1280160" cy="777240"/>
          </a:xfrm>
          <a:prstGeom prst="rect">
            <a:avLst/>
          </a:prstGeom>
          <a:solidFill>
            <a:srgbClr val="1818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3794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£150k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74720" y="41788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Raise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0A0A14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0" y="365760"/>
            <a:ext cx="2926080" cy="2926080"/>
          </a:xfrm>
          <a:prstGeom prst="oval">
            <a:avLst/>
          </a:prstGeom>
          <a:solidFill>
            <a:srgbClr val="6C63FF">
              <a:alpha val="8000"/>
            </a:srgbClr>
          </a:solidFill>
          <a:ln w="635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822960"/>
            <a:ext cx="2011680" cy="2011680"/>
          </a:xfrm>
          <a:prstGeom prst="oval">
            <a:avLst/>
          </a:prstGeom>
          <a:solidFill>
            <a:srgbClr val="6C63FF">
              <a:alpha val="15000"/>
            </a:srgbClr>
          </a:solidFill>
          <a:ln w="6350">
            <a:solidFill>
              <a:srgbClr val="6C63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502920"/>
            <a:ext cx="2194560" cy="347472"/>
          </a:xfrm>
          <a:prstGeom prst="rect">
            <a:avLst/>
          </a:prstGeom>
          <a:solidFill>
            <a:srgbClr val="18181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LoopStack Agency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1280160"/>
            <a:ext cx="2194560" cy="347472"/>
          </a:xfrm>
          <a:prstGeom prst="rect">
            <a:avLst/>
          </a:prstGeom>
          <a:solidFill>
            <a:srgbClr val="18181F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12801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TenurAI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103120"/>
            <a:ext cx="2194560" cy="347472"/>
          </a:xfrm>
          <a:prstGeom prst="rect">
            <a:avLst/>
          </a:prstGeom>
          <a:solidFill>
            <a:srgbClr val="18181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103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TalentForge AI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66560" y="2880360"/>
            <a:ext cx="2194560" cy="347472"/>
          </a:xfrm>
          <a:prstGeom prst="rect">
            <a:avLst/>
          </a:prstGeom>
          <a:solidFill>
            <a:srgbClr val="18181F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28803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BuildaQuote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12080" y="47365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Hatcher  ·  Founder  ·  hello@loopstack.uk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massive UK industries.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running on spreadsheets.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691640"/>
            <a:ext cx="2606040" cy="2743200"/>
          </a:xfrm>
          <a:prstGeom prst="rect">
            <a:avLst/>
          </a:prstGeom>
          <a:solidFill>
            <a:srgbClr val="1818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691640"/>
            <a:ext cx="2606040" cy="457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9019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3317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Lettings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2670048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Renters' Rights Act 2025 introduced 15+ new obligations overnight. 17,000+ agencies have no affordable compliance tool. Solicitors charge £200–£400/hr.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54680" y="1691640"/>
            <a:ext cx="2606040" cy="2743200"/>
          </a:xfrm>
          <a:prstGeom prst="rect">
            <a:avLst/>
          </a:prstGeom>
          <a:solidFill>
            <a:srgbClr val="1818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54680" y="1691640"/>
            <a:ext cx="2606040" cy="4572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90195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23317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Recruitment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246120" y="2670048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40,000+ agencies still writing JDs by hand, manually screening CVs, and crafting outreach from scratch. AI-powered competitors are already pulling ahead.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989320" y="1691640"/>
            <a:ext cx="2606040" cy="2743200"/>
          </a:xfrm>
          <a:prstGeom prst="rect">
            <a:avLst/>
          </a:prstGeom>
          <a:solidFill>
            <a:srgbClr val="1818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89320" y="1691640"/>
            <a:ext cx="2606040" cy="45720"/>
          </a:xfrm>
          <a:prstGeom prst="rect">
            <a:avLst/>
          </a:prstGeom>
          <a:solidFill>
            <a:srgbClr val="F5C84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90195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0760" y="23317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Trades &amp; Construction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080760" y="2670048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tradespeople have no professional quoting, contracting, or compliance tool. The £150B sector is the last to be digitised — and nobody has built for it yet.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365760" y="4892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LoopStack AI  ·  Confidential  ·  Investor Pitch 2026</a:t>
            </a:r>
            <a:endParaRPr lang="en-US" sz="700" dirty="0"/>
          </a:p>
        </p:txBody>
      </p:sp>
      <p:sp>
        <p:nvSpPr>
          <p:cNvPr id="20" name="Text 15"/>
          <p:cNvSpPr/>
          <p:nvPr/>
        </p:nvSpPr>
        <p:spPr>
          <a:xfrm>
            <a:off x="7863840" y="48920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studio. Four vertical SaaS products.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build generic AI tools. We build sector-specific, compliance-driven SaaS that gives SMEs enterprise-grade capability at a fraction of the cost.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196596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00200"/>
            <a:ext cx="1965960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737360"/>
            <a:ext cx="914400" cy="201168"/>
          </a:xfrm>
          <a:prstGeom prst="rect">
            <a:avLst/>
          </a:prstGeom>
          <a:solidFill>
            <a:srgbClr val="6C63FF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737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TRADING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LoopStack Agency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loopstack.uk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65176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automation for UK businesses — workflows, chatbots, document intelligence, CRM automation.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1600200"/>
            <a:ext cx="196596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600200"/>
            <a:ext cx="1965960" cy="640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0" y="1737360"/>
            <a:ext cx="914400" cy="201168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1737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LIVE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560320" y="20116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3957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app.tenurai.co.uk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265176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co-pilot for UK letting agents. Drafts notices, tracks deadlines, audits portfolios.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1600200"/>
            <a:ext cx="196596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600200"/>
            <a:ext cx="196596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1737360"/>
            <a:ext cx="914400" cy="201168"/>
          </a:xfrm>
          <a:prstGeom prst="rect">
            <a:avLst/>
          </a:prstGeom>
          <a:solidFill>
            <a:srgbClr val="FF6B6B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1737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LIVE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709160" y="20116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TalentForge AI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23957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app.loopstack.uk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09160" y="265176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AI tools for recruiters: JD Writer, CV Screener, Outreach, Interview Qs, Client Pitch, Psychometrics.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66560" y="1600200"/>
            <a:ext cx="196596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1600200"/>
            <a:ext cx="196596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0" y="1737360"/>
            <a:ext cx="914400" cy="201168"/>
          </a:xfrm>
          <a:prstGeom prst="rect">
            <a:avLst/>
          </a:prstGeom>
          <a:solidFill>
            <a:srgbClr val="F5C842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1737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858000" y="20116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BuildaQuote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23957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0" y="265176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quoting, building regs guidance, contracts &amp; invoicing for UK tradespeople and contractors.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892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LoopStack AI  ·  Confidential  ·  Investor Pitch 2026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863840" y="48920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multi-billion pound markets. All underserved.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06040" cy="3520440"/>
          </a:xfrm>
          <a:prstGeom prst="rect">
            <a:avLst/>
          </a:prstGeom>
          <a:solidFill>
            <a:srgbClr val="1818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260604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£4.3B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Private Rental Market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395728"/>
            <a:ext cx="2103120" cy="13716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871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17,000+ letting agencies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7797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4.6M private landlords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0723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Renters' Rights Act 2025 creates urgent need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TenurAI TAM @ 10%: ~£20M ARR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54680" y="1188720"/>
            <a:ext cx="2606040" cy="3520440"/>
          </a:xfrm>
          <a:prstGeom prst="rect">
            <a:avLst/>
          </a:prstGeom>
          <a:solidFill>
            <a:srgbClr val="1818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1188720"/>
            <a:ext cx="260604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325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£4.8B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291840" y="20116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Recruitment Industry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91840" y="2395728"/>
            <a:ext cx="2103120" cy="13716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24871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40,000+ agencies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27797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AI-augmented recruiters outcompeting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30723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SMEs priced out of enterprise tools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33649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TalentForge TAM @ 10%: ~£48M ARR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89320" y="1188720"/>
            <a:ext cx="2606040" cy="3520440"/>
          </a:xfrm>
          <a:prstGeom prst="rect">
            <a:avLst/>
          </a:prstGeom>
          <a:solidFill>
            <a:srgbClr val="1818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1188720"/>
            <a:ext cx="2606040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325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£150B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126480" y="20116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Construction &amp; Trades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26480" y="2395728"/>
            <a:ext cx="2103120" cy="13716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24871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1M+ tradespeople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0" y="27797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Last major sector without AI tools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6480" y="30723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Global expansion: AU, US, CA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26480" y="33649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First-mover advantage available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892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LoopStack AI  ·  Confidential  ·  Investor Pitch 2026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863840" y="48920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A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474720" cy="640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TenurAI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Co-Pilot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UK Letting Agents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app.tenurai.co.uk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2926080" cy="32004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21031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74320" y="2377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2377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£49/mo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6334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office · 50 props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32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27614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£99/mo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017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offices · 250 props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" y="31455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31455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£199/mo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34015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4320" y="4480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LIVE · PRE-REVENUE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74904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02 OF 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749040" y="5029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tools covering the full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lifecycle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74904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14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Document Drafting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8, prescribed info, rent increases, pet addenda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74904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11480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Tracker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safety, EPC, Right to Rent, deposit protection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74904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11480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Q&amp;A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answers to any UK lettings question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0080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76656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 Audit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check against current legislation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008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📰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6656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Legislation Updates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as UK housing law changes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0080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🏘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76656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Multi-Property Dashboard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6656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status across every tenancy and branch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65760" y="4892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LoopStack AI  ·  Confidential  ·  Investor Pitch 2026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863840" y="48920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47472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TalentForge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Recruitment Toolkit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Agencies &amp; Consultants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app.loopstack.uk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2926080" cy="32004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21031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74320" y="23774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Independent recruitment consultants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2724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Boutique &amp; mid-size agencies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30723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In-house TA teams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34198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40,000+ UK agencies total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4480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LIVE · PRE-REVENUE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4904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03 OF 04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749040" y="5029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AI tools. One subscription.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work → minutes.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4904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14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Writer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Bias-free job descriptions in seconds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74904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✉️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1480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Outreach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LinkedIn &amp; email messages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74904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1480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Screener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scoring against your role brief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080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6656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6656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with scoring guides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008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6656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Pitch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new mandates with tailored pitches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0080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6656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Psychometric Tests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SHL-style test packs for any role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65760" y="4892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LoopStack AI  ·  Confidential  ·  Investor Pitch 2026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863840" y="48920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612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47472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BuildaQuote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Quoting &amp; Contracting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UK Tradespeople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926080" cy="32004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7830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2084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£150B market — last major sector without AI tools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2487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1M+ UK tradespeople with no professional quoting tool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28895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First-mover advantage still available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Global: AU, US, CA replication potential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4480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74904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04 OF 04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49040" y="5029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trades platform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doesn't exist yet.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4904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14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Quote Builder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Photo-referenced, accurate estimates with live supplier pricing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74904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1480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Regs Advisor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guidance on regulations specific to each project type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74904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1480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Generator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tradesperson–client contracts, legally informed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0080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6656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References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6656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project photos as the basis for accurate AI quotes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008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6656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 &amp; Payments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invoicing, payment tracking, and reminders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0080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76656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Tracker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costs per project, categorise, export for accounts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65760" y="4892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LoopStack AI  ·  Confidential  ·  Investor Pitch 2026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863840" y="48920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PROOF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are built. Apps are live.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goes to growth — not development.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508760"/>
            <a:ext cx="4069080" cy="1417320"/>
          </a:xfrm>
          <a:prstGeom prst="rect">
            <a:avLst/>
          </a:prstGeom>
          <a:solidFill>
            <a:srgbClr val="1818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508760"/>
            <a:ext cx="45720" cy="1417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6184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TenurAI — App Live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8928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app.tenurai.co.uk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Full SaaS platform deployed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23591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Compliance Q&amp;A, document drafting, deadline tracker, tenancy audit, multi-property dashboard all operational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61518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Founding member waitlist live — 50% off first 3 months for first 50 agencies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069080" cy="1417320"/>
          </a:xfrm>
          <a:prstGeom prst="rect">
            <a:avLst/>
          </a:prstGeom>
          <a:solidFill>
            <a:srgbClr val="1818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508760"/>
            <a:ext cx="45720" cy="14173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6184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TalentForge — App Live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8928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app.loopstack.uk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00600" y="21031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All 6 AI recruitment tools operational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00600" y="23591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JD Writer, CV Screener, Candidate Outreach, Interview Qs, Client Pitch, Psychometric Tests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00600" y="261518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Open for user sign-up now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108960"/>
            <a:ext cx="4069080" cy="1417320"/>
          </a:xfrm>
          <a:prstGeom prst="rect">
            <a:avLst/>
          </a:prstGeom>
          <a:solidFill>
            <a:srgbClr val="1818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108960"/>
            <a:ext cx="45720" cy="14173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218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LoopStack Agency — Trading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493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loopstack.uk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37033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Live business with delivered projects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9593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Client testimonials on site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421538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Projects from £997 — active pipeline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3108960"/>
            <a:ext cx="4069080" cy="1417320"/>
          </a:xfrm>
          <a:prstGeom prst="rect">
            <a:avLst/>
          </a:prstGeom>
          <a:solidFill>
            <a:srgbClr val="1818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108960"/>
            <a:ext cx="45720" cy="141732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218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BuildaQuote — In Dev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493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complete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00600" y="37033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Concept validated through founder's trades network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00600" y="39593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Development begins post-investment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00600" y="421538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Beta target: Q1 2027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5760" y="4892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LoopStack AI  ·  Confidential  ·  Investor Pitch 2026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863840" y="48920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streams.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compounding.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846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54864" cy="10058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Revenue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55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£997–£2,497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project  +  £799/mo retainer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017520" y="14630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cash flow. No long sales cycle. Bespoke AI automation for UK businesses.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4846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60320"/>
            <a:ext cx="54864" cy="10058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— TenurAI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£49–£199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agency per month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17520" y="26517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Compliance-dependent. Low churn. Target: 500 subscribers = up to £99k MRR.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4846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49040"/>
            <a:ext cx="54864" cy="10058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— TalentForge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133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£49–£99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agency per month (est.)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017520" y="38404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lock-in. Daily use tool. Target: 500 subscribers = up to £49k MRR.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94960" y="1234440"/>
            <a:ext cx="3474720" cy="3611880"/>
          </a:xfrm>
          <a:prstGeom prst="rect">
            <a:avLst/>
          </a:prstGeom>
          <a:solidFill>
            <a:srgbClr val="0A0A14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3212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Moat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532120" y="1874520"/>
            <a:ext cx="36576" cy="5029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5" name="Text 23"/>
          <p:cNvSpPr/>
          <p:nvPr/>
        </p:nvSpPr>
        <p:spPr>
          <a:xfrm>
            <a:off x="5632704" y="1874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dependency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32704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TenurAI users can't easily leave — their entire compliance record lives in the platform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32120" y="2587752"/>
            <a:ext cx="36576" cy="502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8" name="Text 26"/>
          <p:cNvSpPr/>
          <p:nvPr/>
        </p:nvSpPr>
        <p:spPr>
          <a:xfrm>
            <a:off x="5632704" y="25877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lock-in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32704" y="2816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TalentForge becomes part of daily recruiter process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32120" y="3300984"/>
            <a:ext cx="36576" cy="5029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Text 29"/>
          <p:cNvSpPr/>
          <p:nvPr/>
        </p:nvSpPr>
        <p:spPr>
          <a:xfrm>
            <a:off x="5632704" y="330098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regulatory depth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32704" y="35295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replicate without significant investment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32120" y="4014216"/>
            <a:ext cx="36576" cy="50292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4" name="Text 32"/>
          <p:cNvSpPr/>
          <p:nvPr/>
        </p:nvSpPr>
        <p:spPr>
          <a:xfrm>
            <a:off x="5632704" y="401421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32704" y="4242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all three verticals before significant competition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5760" y="4892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LoopStack AI  ·  Confidential  ·  Investor Pitch 2026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863840" y="48920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base case — 24 month MRR forecast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1371600" cy="1234440"/>
          </a:xfrm>
          <a:prstGeom prst="rect">
            <a:avLst/>
          </a:prstGeom>
          <a:solidFill>
            <a:srgbClr val="1818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97880" y="13533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£8.1k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897880" y="18470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MRR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452360" y="1188720"/>
            <a:ext cx="1371600" cy="1234440"/>
          </a:xfrm>
          <a:prstGeom prst="rect">
            <a:avLst/>
          </a:prstGeom>
          <a:solidFill>
            <a:srgbClr val="1818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13533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£20.9k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452360" y="18470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MRR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897880" y="2651760"/>
            <a:ext cx="1371600" cy="1234440"/>
          </a:xfrm>
          <a:prstGeom prst="rect">
            <a:avLst/>
          </a:prstGeom>
          <a:solidFill>
            <a:srgbClr val="1818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28163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£42k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897880" y="33101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18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MRR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452360" y="2651760"/>
            <a:ext cx="1371600" cy="1234440"/>
          </a:xfrm>
          <a:prstGeom prst="rect">
            <a:avLst/>
          </a:prstGeom>
          <a:solidFill>
            <a:srgbClr val="18181F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52360" y="28163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£75.9k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452360" y="33101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24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MRR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65760" y="44348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£1M ARR across portfolio within 18 months of investment → Series A ready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65760" y="4892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LoopStack AI  ·  Confidential  ·  Investor Pitch 2026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7863840" y="48920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Legislation. AI maturity. Market gaps.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aligning in 2026.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Renters' Rights Act 2025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7099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21 abolished. 15+ new obligations. Every UK letting agent needs compliance support — now. TenurAI is timed perfectly.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3474720" cy="13716"/>
          </a:xfrm>
          <a:prstGeom prst="rect">
            <a:avLst/>
          </a:prstGeom>
          <a:solidFill>
            <a:srgbClr val="E0E0F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2587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587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Production-Ready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quality is now sufficient for legally-informed drafting, CV screening, and compliance Q&amp;A. The technology window is open.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3502152"/>
            <a:ext cx="3474720" cy="13716"/>
          </a:xfrm>
          <a:prstGeom prst="rect">
            <a:avLst/>
          </a:prstGeom>
          <a:solidFill>
            <a:srgbClr val="E0E0F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3758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3758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Priced Out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0507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Solicitors charge £200-400/hr. Enterprise HR software costs thousands. The SME gap is wide open and growing.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77240" y="4672584"/>
            <a:ext cx="3474720" cy="13716"/>
          </a:xfrm>
          <a:prstGeom prst="rect">
            <a:avLst/>
          </a:prstGeom>
          <a:solidFill>
            <a:srgbClr val="E0E0F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12064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Lagging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17099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£150B trades sector is the last major UK industry without AI tooling. First-mover advantage is still available.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20640" y="2331720"/>
            <a:ext cx="3474720" cy="13716"/>
          </a:xfrm>
          <a:prstGeom prst="rect">
            <a:avLst/>
          </a:prstGeom>
          <a:solidFill>
            <a:srgbClr val="E0E0F0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587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20640" y="2587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Replication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2880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as proof-of-concept. Rental compliance, recruitment tooling, and trades quoting are universal problems. AU, US, CA next.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0640" y="3502152"/>
            <a:ext cx="3474720" cy="13716"/>
          </a:xfrm>
          <a:prstGeom prst="rect">
            <a:avLst/>
          </a:prstGeom>
          <a:solidFill>
            <a:srgbClr val="E0E0F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758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120640" y="3758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Efficiency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40507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 means each new product is cheaper to build. Margin improves with every launch. Value compounds.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20640" y="4672584"/>
            <a:ext cx="3474720" cy="13716"/>
          </a:xfrm>
          <a:prstGeom prst="rect">
            <a:avLst/>
          </a:prstGeom>
          <a:solidFill>
            <a:srgbClr val="E0E0F0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892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LoopStack AI  ·  Confidential  ·  Investor Pitch 2026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863840" y="48920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to meaningful MRR.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months to Series A.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417320" y="1536192"/>
            <a:ext cx="18288" cy="3474720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1517904"/>
            <a:ext cx="201168" cy="201168"/>
          </a:xfrm>
          <a:prstGeom prst="oval">
            <a:avLst/>
          </a:prstGeom>
          <a:solidFill>
            <a:srgbClr val="00D4AA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481328"/>
            <a:ext cx="914400" cy="256032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691640" y="144475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First Subscribers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7190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TenurAI &amp; TalentForge marketing go live. Founding member campaign. Target: first 50 paying subscribers.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25880" y="2221992"/>
            <a:ext cx="201168" cy="201168"/>
          </a:xfrm>
          <a:prstGeom prst="oval">
            <a:avLst/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185416"/>
            <a:ext cx="914400" cy="256032"/>
          </a:xfrm>
          <a:prstGeom prst="rect">
            <a:avLst/>
          </a:prstGeom>
          <a:solidFill>
            <a:srgbClr val="6C63FF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1854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691640" y="21488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100 Subscribers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4231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digital, SEO &amp; content marketing. First case studies. TenurAI professional tier adoption grows.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25880" y="2926080"/>
            <a:ext cx="201168" cy="201168"/>
          </a:xfrm>
          <a:prstGeom prst="oval">
            <a:avLst/>
          </a:prstGeom>
          <a:solidFill>
            <a:srgbClr val="FF6B6B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889504"/>
            <a:ext cx="914400" cy="256032"/>
          </a:xfrm>
          <a:prstGeom prst="rect">
            <a:avLst/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8895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91640" y="285292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Expansion &amp; Higher ARPU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31272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TenurAI Agency tier + API. TalentForge team accounts + ATS integrations. BuildaQuote MVP build begins.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25880" y="3630168"/>
            <a:ext cx="201168" cy="201168"/>
          </a:xfrm>
          <a:prstGeom prst="oval">
            <a:avLst/>
          </a:prstGeom>
          <a:solidFill>
            <a:srgbClr val="F5C842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593592"/>
            <a:ext cx="914400" cy="256032"/>
          </a:xfrm>
          <a:prstGeom prst="rect">
            <a:avLst/>
          </a:prstGeom>
          <a:solidFill>
            <a:srgbClr val="F5C842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5935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91640" y="355701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BuildaQuote Private Beta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383133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tradespeople in private beta. Validate AI quoting accuracy, contracts, supplier integration.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25880" y="4334256"/>
            <a:ext cx="201168" cy="201168"/>
          </a:xfrm>
          <a:prstGeom prst="oval">
            <a:avLst/>
          </a:prstGeom>
          <a:solidFill>
            <a:srgbClr val="9F97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4297680"/>
            <a:ext cx="914400" cy="256032"/>
          </a:xfrm>
          <a:prstGeom prst="rect">
            <a:avLst/>
          </a:prstGeom>
          <a:solidFill>
            <a:srgbClr val="9F97FF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4297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F9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Q2–Q4 2027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91640" y="426110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Expand &amp; Series 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91640" y="453542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BuildaQuote public launch. TenurAI → AU &amp; IRE. TalentForge global rollout. Target £1M ARR. Series A.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892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LoopStack AI  ·  Confidential  ·  Investor Pitch 2026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863840" y="48920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INVESTMENT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£150,000. Targeted. No waste.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3657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206240" y="1051560"/>
            <a:ext cx="22402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206240" y="1051560"/>
            <a:ext cx="54864" cy="16002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4"/>
          <p:cNvSpPr/>
          <p:nvPr/>
        </p:nvSpPr>
        <p:spPr>
          <a:xfrm>
            <a:off x="4343400" y="11612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029200" y="1234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£60,000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Acquisition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343400" y="18928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Paid digital (Google, LinkedIn, Meta)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343400" y="21122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SEO &amp; content strategy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343400" y="2331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Industry associations (ARLA, REC, FMB)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343400" y="25511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TenurAI founding member campaign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629400" y="1051560"/>
            <a:ext cx="22402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29400" y="1051560"/>
            <a:ext cx="54864" cy="16002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Text 13"/>
          <p:cNvSpPr/>
          <p:nvPr/>
        </p:nvSpPr>
        <p:spPr>
          <a:xfrm>
            <a:off x="6766560" y="11612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7452360" y="1234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£45,000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5236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Development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766560" y="18928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TenurAI Agency tier &amp; API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766560" y="21122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TalentForge team accounts &amp; ATS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766560" y="2331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BuildaQuote MVP build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766560" y="25511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Infrastructure scaling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206240" y="2880360"/>
            <a:ext cx="22402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206240" y="2880360"/>
            <a:ext cx="54864" cy="1600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5" name="Text 22"/>
          <p:cNvSpPr/>
          <p:nvPr/>
        </p:nvSpPr>
        <p:spPr>
          <a:xfrm>
            <a:off x="4343400" y="29900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502920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£30,000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02920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Infrastructure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343400" y="37216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Cloud &amp; AI API costs at scale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343400" y="39410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Legal &amp; accounting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343400" y="4160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Customer support tooling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629400" y="2880360"/>
            <a:ext cx="22402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629400" y="2880360"/>
            <a:ext cx="54864" cy="160020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3" name="Text 30"/>
          <p:cNvSpPr/>
          <p:nvPr/>
        </p:nvSpPr>
        <p:spPr>
          <a:xfrm>
            <a:off x="6766560" y="29900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600" dirty="0"/>
          </a:p>
        </p:txBody>
      </p:sp>
      <p:sp>
        <p:nvSpPr>
          <p:cNvPr id="34" name="Text 31"/>
          <p:cNvSpPr/>
          <p:nvPr/>
        </p:nvSpPr>
        <p:spPr>
          <a:xfrm>
            <a:off x="745236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£15,000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45236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766560" y="37216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Working capital buffer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766560" y="39410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Runway through traction phase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65760" y="4892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LoopStack AI  ·  Confidential  ·  Investor Pitch 2026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7863840" y="48920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someone who knows all three industries.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371600" cy="1371600"/>
          </a:xfrm>
          <a:prstGeom prst="oval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965960" y="1097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Hatcher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65960" y="1508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 ·  loopstack.uk  ·  hello@loopstack.uk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65960" y="1828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three decades of cross-sector experience spanning IT, high-scientific and technical recruitment, web development, and AI — across the UK, USA, Canada, and Spain.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27432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560320"/>
            <a:ext cx="45720" cy="8046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51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Years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29900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2560320"/>
            <a:ext cx="27432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2560320"/>
            <a:ext cx="45720" cy="80467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2651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29900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(Defence &amp; Embedded Systems)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2560320"/>
            <a:ext cx="27432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560320"/>
            <a:ext cx="45720" cy="80467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651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29900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Design &amp; Development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27432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520440"/>
            <a:ext cx="45720" cy="804672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6118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Years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39502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 Development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3520440"/>
            <a:ext cx="27432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3520440"/>
            <a:ext cx="45720" cy="8046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36118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Countries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383280" y="39502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· USA · Canada · Spain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3520440"/>
            <a:ext cx="27432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520440"/>
            <a:ext cx="45720" cy="80467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6118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Founder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63640" y="39502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every product himself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892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LoopStack AI  ·  Confidential  ·  Investor Pitch 2026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863840" y="48920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111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754880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at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beginning.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£100,000 – £150,000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·  Equity open to discussion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3840480" cy="13716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971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Hatcher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192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hello@loopstack.uk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667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loopstack.uk  ·  tenurai.co.uk  ·  app.loopstack.uk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365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invest now?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7760" y="868680"/>
            <a:ext cx="3931920" cy="685800"/>
          </a:xfrm>
          <a:prstGeom prst="rect">
            <a:avLst/>
          </a:prstGeom>
          <a:solidFill>
            <a:srgbClr val="18181F"/>
          </a:solidFill>
          <a:ln w="5080">
            <a:solidFill>
              <a:srgbClr val="2A2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868680"/>
            <a:ext cx="45720" cy="6858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923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Apps already built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1197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live products. Investment funds growth — not development.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37760" y="1673352"/>
            <a:ext cx="3931920" cy="685800"/>
          </a:xfrm>
          <a:prstGeom prst="rect">
            <a:avLst/>
          </a:prstGeom>
          <a:solidFill>
            <a:srgbClr val="18181F"/>
          </a:solidFill>
          <a:ln w="5080">
            <a:solidFill>
              <a:srgbClr val="2A2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1673352"/>
            <a:ext cx="45720" cy="6858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17282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Right timing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2002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Renters' Rights Act 2025 creates urgency. First-mover windows are open.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37760" y="2478024"/>
            <a:ext cx="3931920" cy="685800"/>
          </a:xfrm>
          <a:prstGeom prst="rect">
            <a:avLst/>
          </a:prstGeom>
          <a:solidFill>
            <a:srgbClr val="18181F"/>
          </a:solidFill>
          <a:ln w="5080">
            <a:solidFill>
              <a:srgbClr val="2A2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2478024"/>
            <a:ext cx="45720" cy="6858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2532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Portfolio model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807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bets, one team. If one scales faster, it funds the next.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37760" y="3282696"/>
            <a:ext cx="3931920" cy="685800"/>
          </a:xfrm>
          <a:prstGeom prst="rect">
            <a:avLst/>
          </a:prstGeom>
          <a:solidFill>
            <a:srgbClr val="18181F"/>
          </a:solidFill>
          <a:ln w="5080">
            <a:solidFill>
              <a:srgbClr val="2A2A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3282696"/>
            <a:ext cx="45720" cy="68580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Domain expertise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3611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has 30+ years across all three target industries.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937760" y="4087368"/>
            <a:ext cx="3931920" cy="685800"/>
          </a:xfrm>
          <a:prstGeom prst="rect">
            <a:avLst/>
          </a:prstGeom>
          <a:solidFill>
            <a:srgbClr val="18181F"/>
          </a:solidFill>
          <a:ln w="5080">
            <a:solidFill>
              <a:srgbClr val="2A2A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4087368"/>
            <a:ext cx="45720" cy="685800"/>
          </a:xfrm>
          <a:prstGeom prst="rect">
            <a:avLst/>
          </a:prstGeom>
          <a:solidFill>
            <a:srgbClr val="9F97FF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4142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9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Global potential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74920" y="4416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validation → AU, US, CA. Particularly TalentForge &amp; BuildaQuote.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is confidential and does not constitute a financial prospectus or regulated financial promotion. Investment in early-stage companies carries significant risk including risk of total loss. Seek independent financial advice before investing. LoopStack AI is pre-incorporation.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LoopStack AI — Investor Pitch 2026</dc:title>
  <dc:subject>PptxGenJS Presentation</dc:subject>
  <dc:creator>Andrew Hatcher</dc:creator>
  <cp:lastModifiedBy>Andrew Hatcher</cp:lastModifiedBy>
  <cp:revision>1</cp:revision>
  <dcterms:created xsi:type="dcterms:W3CDTF">2026-03-17T10:21:04Z</dcterms:created>
  <dcterms:modified xsi:type="dcterms:W3CDTF">2026-03-17T10:21:04Z</dcterms:modified>
</cp:coreProperties>
</file>