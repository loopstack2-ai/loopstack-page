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1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B1E"/>
                </a:solidFill>
                <a:latin typeface="Arial"/>
              </a:rPr>
              <a:t>Revenue Breakdown (€M)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(€M)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7C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D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MMC Current</c:v>
                  </c:pt>
                  <c:pt idx="1">
                    <c:v>Great Soul GH</c:v>
                  </c:pt>
                  <c:pt idx="2">
                    <c:v>Outdoor Expansion</c:v>
                  </c:pt>
                  <c:pt idx="3">
                    <c:v>Total (Worst Case)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4.4</c:v>
                </c:pt>
                <c:pt idx="1">
                  <c:v>10.5</c:v>
                </c:pt>
                <c:pt idx="2">
                  <c:v>3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1A">
              <a:alpha val="65000"/>
            </a:srgbClr>
          </a:solidFill>
          <a:ln w="12700">
            <a:solidFill>
              <a:srgbClr val="1A2B1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914400"/>
            <a:ext cx="64008" cy="2926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914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INVESTMENT OPPORTUNITY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14173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Portuguese Medical Cannabis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Platform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58368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Licensed Operations, State-of-the-Art Facilities,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Explosive Market Growth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5F2D">
              <a:alpha val="80000"/>
            </a:srgbClr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051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Investment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D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2011680"/>
            <a:ext cx="288036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0" y="320040"/>
            <a:ext cx="4114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77640" y="3657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&amp; Global Trends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0" y="850392"/>
            <a:ext cx="4114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850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77640" y="8961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Comparable Sales in Portugal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74720" y="1380744"/>
            <a:ext cx="4114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0" y="1380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77640" y="14264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Great Soul Pharma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74720" y="1911096"/>
            <a:ext cx="4114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0" y="1911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977640" y="19568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 Coimbra – Licensed &amp; Producing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474720" y="2441448"/>
            <a:ext cx="4114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977640" y="24871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Acquisition Structure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74720" y="2971800"/>
            <a:ext cx="4114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977640" y="30175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&amp; Revenue Projections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474720" y="3502152"/>
            <a:ext cx="4114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977640" y="35478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 Global Market Report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474720" y="4032504"/>
            <a:ext cx="41148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7472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97764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MEDICAL CANNABIS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GROWTH IN KEY REGIONS — 2026 UPDATE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6596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€13–21B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market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 2033–34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41448" y="822960"/>
            <a:ext cx="1965960" cy="1371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822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17–26%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41448" y="1645920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projected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European market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08576" y="822960"/>
            <a:ext cx="1965960" cy="1371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822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€670M+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08576" y="1645920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market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 alone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75704" y="822960"/>
            <a:ext cx="196596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75704" y="822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26+ tons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75704" y="1645920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Portugal's historical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export volume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86000"/>
            <a:ext cx="4206240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95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EUROPE — MATURING POWERHOUSE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24328"/>
            <a:ext cx="3977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valued at ~USD 3–4 billion currently, with projections to USD 13–21 billion by 2033–34 (CAGR 17–26%).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Germany: largest EU market with €670M+ revenue in 2025, heading toward €1.3B by 2029. Imports exceeded 200 tons in 2025.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UK, Poland, Italy, and Spain all showing double-digit growth and strong regulatory momentum.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established as a key EU exporter with 26+ tons exported historically.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86000"/>
            <a:ext cx="4206240" cy="2926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295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ISRAEL &amp; AUSTRALIA — SURGING DEMAND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624328"/>
            <a:ext cx="3977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Israel: Reforms in late 2025 expanding patient access, rebounding toward 264,000+ patients in 2025, up to 366,000 by 2028.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Australia: ~600,000 patients in 2024–2025; annual sales tracking to exceed AUD $1 billion. Market ~USD 600–800M with 12–16% CAGR.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tailwinds create an unprecedented demand surge for quality European-produced medical cannabis.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 SALES — PORTUGUESE CANNABIS FACILITIES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685800"/>
            <a:ext cx="4114800" cy="4457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5800"/>
            <a:ext cx="4114800" cy="4457700"/>
          </a:xfrm>
          <a:prstGeom prst="rect">
            <a:avLst/>
          </a:prstGeom>
          <a:solidFill>
            <a:srgbClr val="1A2B1A">
              <a:alpha val="45000"/>
            </a:srgbClr>
          </a:solidFill>
          <a:ln w="12700">
            <a:solidFill>
              <a:srgbClr val="1A2B1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3716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Comparables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251960" y="804672"/>
            <a:ext cx="4663440" cy="42062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43400" y="804672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0" y="804672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AREA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29400" y="804672"/>
            <a:ext cx="10972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26680" y="804672"/>
            <a:ext cx="11887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51960" y="126187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1261872"/>
            <a:ext cx="1097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Hoshi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1261872"/>
            <a:ext cx="1097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m²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1261872"/>
            <a:ext cx="1097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m²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80960" y="1261872"/>
            <a:ext cx="11430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51960" y="1764792"/>
            <a:ext cx="4663440" cy="475488"/>
          </a:xfrm>
          <a:prstGeom prst="rect">
            <a:avLst/>
          </a:prstGeom>
          <a:solidFill>
            <a:srgbClr val="EBF2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764792"/>
            <a:ext cx="1097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Galaxia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0" y="1764792"/>
            <a:ext cx="1097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m²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0" y="1764792"/>
            <a:ext cx="1097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m²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80960" y="1764792"/>
            <a:ext cx="11430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51960" y="226771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43400" y="2267712"/>
            <a:ext cx="1097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Farma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0" y="2267712"/>
            <a:ext cx="1097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m²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583680" y="2267712"/>
            <a:ext cx="1097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680960" y="2267712"/>
            <a:ext cx="11430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€15M (ask)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51960" y="2834640"/>
            <a:ext cx="4663440" cy="137160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51960" y="2834640"/>
            <a:ext cx="64008" cy="1371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34840" y="2907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434840" y="320040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transactions highlight premium valuations for established sites in Portugal's growing export hub — validating our acquisition targets well below comparable market prices.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SOUL PHARMA — ORTIGA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685800"/>
            <a:ext cx="4114800" cy="4457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023360"/>
            <a:ext cx="4114800" cy="1120140"/>
          </a:xfrm>
          <a:prstGeom prst="rect">
            <a:avLst/>
          </a:prstGeom>
          <a:solidFill>
            <a:srgbClr val="1A2B1A">
              <a:alpha val="80000"/>
            </a:srgbClr>
          </a:solidFill>
          <a:ln w="12700">
            <a:solidFill>
              <a:srgbClr val="1A2B1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0416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€10.5M+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Revenue Potential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51960" y="841248"/>
            <a:ext cx="4663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1960" y="841248"/>
            <a:ext cx="54864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07408" y="886968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8,000 m² Production Facility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407408" y="1170432"/>
            <a:ext cx="4416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State-of-the-art, fully equipped — drying rooms, refrigerated storage, trimming rooms and all equipment. Zero additional CapEx required.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51960" y="1865376"/>
            <a:ext cx="4663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1865376"/>
            <a:ext cx="54864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07408" y="1911096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7 High-Tech Greenhouses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407408" y="2194560"/>
            <a:ext cx="4416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 m² each. 2 mother/veg rooms + 5 production GH. Conservative 800 plants × 400g × 4 harvests × 5 GH = €10.5M/year (at €1.65/g presold; target €2.20+/g).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51960" y="2889504"/>
            <a:ext cx="4663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51960" y="2889504"/>
            <a:ext cx="54864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07408" y="2935224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100,000 m² Total Land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407408" y="3218688"/>
            <a:ext cx="4416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m² secure compound plus 80,000 m² owned land for expansion or outdoor cultivation (~10,000 plants → €3M additional annual revenue).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251960" y="3913632"/>
            <a:ext cx="4663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51960" y="3913632"/>
            <a:ext cx="54864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07408" y="3959352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Current Valuation: €11M (Unlicensed)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407408" y="4242816"/>
            <a:ext cx="4416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upside with MMC license integration. Property currently valued without operational license — license synergy dramatically increases true value.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MMC COIMBRA — LICENSED &amp; IN PRODUCTION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685800"/>
            <a:ext cx="4389120" cy="4457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685800"/>
            <a:ext cx="4389120" cy="4457700"/>
          </a:xfrm>
          <a:prstGeom prst="rect">
            <a:avLst/>
          </a:prstGeom>
          <a:solidFill>
            <a:srgbClr val="1A2B1A">
              <a:alpha val="50000"/>
            </a:srgbClr>
          </a:solidFill>
          <a:ln w="12700">
            <a:solidFill>
              <a:srgbClr val="1A2B1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92040" y="1188720"/>
            <a:ext cx="960120" cy="640080"/>
          </a:xfrm>
          <a:prstGeom prst="rect">
            <a:avLst/>
          </a:prstGeom>
          <a:solidFill>
            <a:srgbClr val="2C5F2D">
              <a:alpha val="80000"/>
            </a:srgbClr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2040" y="11887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GACP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92040" y="15087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943600" y="1920240"/>
            <a:ext cx="960120" cy="640080"/>
          </a:xfrm>
          <a:prstGeom prst="rect">
            <a:avLst/>
          </a:prstGeom>
          <a:solidFill>
            <a:srgbClr val="2C5F2D">
              <a:alpha val="80000"/>
            </a:srgbClr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9202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2T/yr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0" y="22402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Annual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995160" y="1188720"/>
            <a:ext cx="960120" cy="640080"/>
          </a:xfrm>
          <a:prstGeom prst="rect">
            <a:avLst/>
          </a:prstGeom>
          <a:solidFill>
            <a:srgbClr val="2C5F2D">
              <a:alpha val="80000"/>
            </a:srgbClr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11887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€4.4M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95160" y="15087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Revenue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8046720" y="1920240"/>
            <a:ext cx="960120" cy="640080"/>
          </a:xfrm>
          <a:prstGeom prst="rect">
            <a:avLst/>
          </a:prstGeom>
          <a:solidFill>
            <a:srgbClr val="2C5F2D">
              <a:alpha val="80000"/>
            </a:srgbClr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19202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600kg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46720" y="22402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Unfilled Monthly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0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74320" y="804672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GACP-Licensed Facility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29768" y="1097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operational with all regulatory approvals in place — ready for immediate scaling.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1655064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" y="1673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International Team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29768" y="19476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British, German &amp; Swiss leadership including former Bayer Pharma directors. Barry Hatcher as Managing Director.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2505456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9768" y="25237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Acres of Production Land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29768" y="279806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greenhouse combined with outdoor flower production — scalable to meet surging demand.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335584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9768" y="3374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License Transfer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29768" y="36484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Soul to operate under MMC license, enabling immediate restart of substantial production across both facilities.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" y="4206240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9768" y="4224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Valuation: €14 Million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29768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to reflect current 2 ton/year production capacity — substantial upside from unfilled 600 kg/month standing orders.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1A">
              <a:alpha val="95000"/>
            </a:srgbClr>
          </a:solidFill>
          <a:ln w="12700">
            <a:solidFill>
              <a:srgbClr val="1A2B1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DEAL STRUCTURE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Compelling Value — €25M in Combined Assets for €14M Investment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2651760" cy="3383280"/>
          </a:xfrm>
          <a:prstGeom prst="rect">
            <a:avLst/>
          </a:prstGeom>
          <a:solidFill>
            <a:srgbClr val="0A1A0A"/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280160"/>
            <a:ext cx="265176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1325880"/>
            <a:ext cx="2432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Controlling Interest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" y="1627632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Soul Pharma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2648" y="2011680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€5M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67512" y="2834640"/>
            <a:ext cx="228600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acquisition of Great Soul Pharma. Full operational and executive control from day one.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0" y="1280160"/>
            <a:ext cx="2651760" cy="3383280"/>
          </a:xfrm>
          <a:prstGeom prst="rect">
            <a:avLst/>
          </a:prstGeom>
          <a:solidFill>
            <a:srgbClr val="0A1A0A"/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1280160"/>
            <a:ext cx="265176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93008" y="1325880"/>
            <a:ext cx="2432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Controlling Interest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93008" y="1627632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 Coimbra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493008" y="2011680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€8M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3547872" y="2834640"/>
            <a:ext cx="228600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access to GACP license. Ability to scale from existing 2T/year base with unfilled orders.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63640" y="1280160"/>
            <a:ext cx="2651760" cy="3383280"/>
          </a:xfrm>
          <a:prstGeom prst="rect">
            <a:avLst/>
          </a:prstGeom>
          <a:solidFill>
            <a:srgbClr val="0A1A0A"/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1280160"/>
            <a:ext cx="265176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3368" y="1325880"/>
            <a:ext cx="2432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Acquire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73368" y="1627632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25%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73368" y="2011680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FMV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6428232" y="2834640"/>
            <a:ext cx="228600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purchase remaining 25% in 3 years or prior to IPO at fair market value — structured for maximum investor upside.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5F2D">
              <a:alpha val="70000"/>
            </a:srgbClr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facility valuation: €25M  |  Total investment required: €14M  |  Discount to value: 44%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€14M TOTAL INVESTMENT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7724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4180114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39057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€8M  |  57%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MMC Coimbra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60320"/>
            <a:ext cx="2612571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51760"/>
            <a:ext cx="23382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€5M  |  36%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Great Soul Pharma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777240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66160"/>
            <a:ext cx="82296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€1M | 7%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87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Operating Expenses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26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€14,000,000 for 75% controlling interest in combined €25M asset base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PROJECTIONS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9184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23560" y="9509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€15M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62356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Annual Revenue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577840" y="1920240"/>
            <a:ext cx="3291840" cy="86868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3560" y="19568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€6.75M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2356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(45% margin)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926080"/>
            <a:ext cx="329184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29626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600kg/mo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62356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 Standing Orders Unfilled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3931920"/>
            <a:ext cx="3291840" cy="868680"/>
          </a:xfrm>
          <a:prstGeom prst="rect">
            <a:avLst/>
          </a:prstGeom>
          <a:solidFill>
            <a:srgbClr val="1A2B1A"/>
          </a:solidFill>
          <a:ln w="12700">
            <a:solidFill>
              <a:srgbClr val="1A2B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€2.20+/g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62356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Pricing Target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1A">
              <a:alpha val="95000"/>
            </a:srgbClr>
          </a:solidFill>
          <a:ln w="12700">
            <a:solidFill>
              <a:srgbClr val="1A2B1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A COMPELLING INVESTMENT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0" y="731520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0A1A0A"/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Proven Assets in Key Export Hub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is Europe's primary medical cannabis export location — established infrastructure, regulation, and international buyer relationships.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0A1A0A"/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Immediate Revenue from Day One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MMC's GACP license and 600kg/month of unfilled standing orders means revenue generation begins immediately upon acquisition.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0A1A0A"/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834640"/>
            <a:ext cx="411480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Massive Market Tailwinds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Europe/Germany booming; Israel and Australia surging. Combined global demand creates an unprecedented window for Portuguese producers.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0A1A0A"/>
          </a:solidFill>
          <a:ln w="12700">
            <a:solidFill>
              <a:srgbClr val="7DAF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2834640"/>
            <a:ext cx="411480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Exceptional Value Entry Point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€25M in combined assets for a €14M investment — a 44% discount with expansion potential and IPO optionality built into the structure.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5F2D">
              <a:alpha val="90000"/>
            </a:srgbClr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HIGH-MARGIN, RESILIENT HEALTHCARE INVESTMENT IN A HIGH-GROWTH SECTOR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Investment Opportunity: Portuguese Medical Cannabis</dc:title>
  <dc:subject>PptxGenJS Presentation</dc:subject>
  <dc:creator>PptxGenJS</dc:creator>
  <cp:lastModifiedBy>PptxGenJS</cp:lastModifiedBy>
  <cp:revision>1</cp:revision>
  <dcterms:created xsi:type="dcterms:W3CDTF">2026-03-16T16:31:34Z</dcterms:created>
  <dcterms:modified xsi:type="dcterms:W3CDTF">2026-03-16T16:31:34Z</dcterms:modified>
</cp:coreProperties>
</file>